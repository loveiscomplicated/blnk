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2_0.xml" ContentType="application/vnd.ms-powerpoint.comments+xml"/>
  <Override PartName="/ppt/notesSlides/notesSlide3.xml" ContentType="application/vnd.openxmlformats-officedocument.presentationml.notesSlide+xml"/>
  <Override PartName="/ppt/comments/modernComment_111_0.xml" ContentType="application/vnd.ms-powerpoint.comments+xml"/>
  <Override PartName="/ppt/notesSlides/notesSlide4.xml" ContentType="application/vnd.openxmlformats-officedocument.presentationml.notesSlide+xml"/>
  <Override PartName="/ppt/comments/modernComment_113_0.xml" ContentType="application/vnd.ms-powerpoint.comments+xml"/>
  <Override PartName="/ppt/notesSlides/notesSlide5.xml" ContentType="application/vnd.openxmlformats-officedocument.presentationml.notesSlide+xml"/>
  <Override PartName="/ppt/comments/modernComment_112_0.xml" ContentType="application/vnd.ms-powerpoint.comments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73" r:id="rId4"/>
    <p:sldId id="275" r:id="rId5"/>
    <p:sldId id="274" r:id="rId6"/>
    <p:sldId id="27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4A4422-787B-6592-7FD3-EE14D387F25C}" name="6164" initials="66" userId="S::G6164@n365.me::b3b782cc-e9be-4b38-96eb-295b0629e88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BE1EB8-5FF9-4E94-9D87-B3BE5C2362DD}" authorId="{B04A4422-787B-6592-7FD3-EE14D387F25C}" created="2024-04-15T04:34:03.99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5" creationId="{00000000-0000-0000-0000-000000000000}"/>
      <ac:txMk cp="1" len="2">
        <ac:context len="436" hash="2077791503"/>
      </ac:txMk>
    </ac:txMkLst>
    <p188:pos x="794730" y="191779"/>
    <p188:txBody>
      <a:bodyPr/>
      <a:lstStyle/>
      <a:p>
        <a:r>
          <a:rPr lang="ko-KR" altLang="en-US"/>
          <a:t>일본의 가장 큰 특징은 단기간에 근대 국가가 되었다는 것
예를 들어 영국은 200년이 걸렸음
제국주의의 팽창 또한 정말 오래 걸렸음
아프리카,아메리카, 인도, 등 까지</a:t>
        </a:r>
      </a:p>
    </p188:txBody>
  </p188:cm>
  <p188:cm id="{3051FEC9-61FE-4317-9B7C-E78E5076FE05}" authorId="{B04A4422-787B-6592-7FD3-EE14D387F25C}" created="2024-04-15T04:34:44.24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5" creationId="{00000000-0000-0000-0000-000000000000}"/>
      <ac:txMk cp="54" len="2">
        <ac:context len="436" hash="2077791503"/>
      </ac:txMk>
    </ac:txMkLst>
    <p188:pos x="248545" y="737964"/>
    <p188:txBody>
      <a:bodyPr/>
      <a:lstStyle/>
      <a:p>
        <a:r>
          <a:rPr lang="ko-KR" altLang="en-US"/>
          <a:t>근대국가의 수립과 동시에 끊임없이 영토 확장에 나선 이유</a:t>
        </a:r>
      </a:p>
    </p188:txBody>
  </p188:cm>
  <p188:cm id="{61C4035A-E8CF-47DA-A600-B7E21F347E1F}" authorId="{B04A4422-787B-6592-7FD3-EE14D387F25C}" created="2024-04-15T04:37:11.37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5" creationId="{00000000-0000-0000-0000-000000000000}"/>
      <ac:txMk cp="100" len="2">
        <ac:context len="436" hash="2077791503"/>
      </ac:txMk>
    </ac:txMkLst>
    <p188:pos x="1113850" y="1069357"/>
    <p188:txBody>
      <a:bodyPr/>
      <a:lstStyle/>
      <a:p>
        <a:r>
          <a:rPr lang="ko-KR" altLang="en-US"/>
          <a:t>+ 반발</a:t>
        </a:r>
      </a:p>
    </p188:txBody>
  </p188:cm>
  <p188:cm id="{2B59A2EA-0A07-4922-8EEC-848620387E5F}" authorId="{B04A4422-787B-6592-7FD3-EE14D387F25C}" created="2024-04-15T04:38:46.4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5" creationId="{00000000-0000-0000-0000-000000000000}"/>
      <ac:txMk cp="341" len="2">
        <ac:context len="436" hash="2077791503"/>
      </ac:txMk>
    </ac:txMkLst>
    <p188:pos x="6054064" y="3536396"/>
    <p188:txBody>
      <a:bodyPr/>
      <a:lstStyle/>
      <a:p>
        <a:r>
          <a:rPr lang="ko-KR" altLang="en-US"/>
          <a:t>~~나라의 행정권이 작용</a:t>
        </a:r>
      </a:p>
    </p188:txBody>
  </p188:cm>
</p188:cmLst>
</file>

<file path=ppt/comments/modernComment_11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A39958-1225-4AC2-AB68-FB9523102112}" authorId="{B04A4422-787B-6592-7FD3-EE14D387F25C}" created="2024-04-15T04:42:14.05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3"/>
      <ac:spMk id="5" creationId="{00000000-0000-0000-0000-000000000000}"/>
      <ac:txMk cp="147" len="26">
        <ac:context len="353" hash="671474426"/>
      </ac:txMk>
    </ac:txMkLst>
    <p188:pos x="8171299" y="1400750"/>
    <p188:replyLst>
      <p188:reply id="{F63BAAA1-9B36-4F28-9CAD-DB4758437BE3}" authorId="{B04A4422-787B-6592-7FD3-EE14D387F25C}" created="2024-04-15T04:44:07.341">
        <p188:txBody>
          <a:bodyPr/>
          <a:lstStyle/>
          <a:p>
            <a:r>
              <a:rPr lang="ko-KR" altLang="en-US"/>
              <a:t>일본은 전쟁을 일으켜서 영토를 얻는 경우가 많았음
오키나와/청일전쟁/러일전쟁/1차 세계대전
서양의 제국주의 국가는 보통 종교인들과 상인들이 먼저 투입
박해를 당하면 군대 투입
일본은 군대를 먼저 동원한 뒤에 안정화되면 민간인들을 투입
</a:t>
            </a:r>
          </a:p>
        </p188:txBody>
      </p188:reply>
    </p188:replyLst>
    <p188:txBody>
      <a:bodyPr/>
      <a:lstStyle/>
      <a:p>
        <a:r>
          <a:rPr lang="ko-KR" altLang="en-US"/>
          <a:t>영국 제품은 세계에서 최고 레벨
질, 가격이 매우 높았음
어느 지역을 식민지화할 때
항구정도 점령하고
지배층을 적당히 굴복시킴
거기까지만 하면 영국 제품이 너무 우수해버렸기 때문에 식민지와 같은 기능이 만들어짐
일본
가격은 후려쳐서 어떻게든 내림
니들이 안 사면 재미 없어
우리 제품 사야 해
이걸 강제할 수 있을 정도로 꽉 잡고 있어야 식민지의 효과가 나옴
그렇기에 군사력 위주로 영토를 팽창할 수밖에 없었음</a:t>
        </a:r>
      </a:p>
    </p188:txBody>
  </p188:cm>
</p188:cmLst>
</file>

<file path=ppt/comments/modernComment_11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1D6B88-BC1F-4422-BD00-A60D85762E16}" authorId="{B04A4422-787B-6592-7FD3-EE14D387F25C}" created="2024-04-15T04:48:11.63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4"/>
      <ac:spMk id="5" creationId="{00000000-0000-0000-0000-000000000000}"/>
      <ac:txMk cp="30" len="2">
        <ac:context len="333" hash="1177970870"/>
      </ac:txMk>
    </ac:txMkLst>
    <p188:pos x="6391595" y="191779"/>
    <p188:txBody>
      <a:bodyPr/>
      <a:lstStyle/>
      <a:p>
        <a:r>
          <a:rPr lang="ko-KR" altLang="en-US"/>
          <a:t>직접 만나기</a:t>
        </a:r>
      </a:p>
    </p188:txBody>
  </p188:cm>
  <p188:cm id="{64608E93-70C3-40CC-AC99-3789238CE314}" authorId="{B04A4422-787B-6592-7FD3-EE14D387F25C}" created="2024-04-15T04:51:28.1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4"/>
      <ac:spMk id="5" creationId="{00000000-0000-0000-0000-000000000000}"/>
      <ac:txMk cp="142" len="1">
        <ac:context len="333" hash="1177970870"/>
      </ac:txMk>
    </ac:txMkLst>
    <p188:pos x="340599" y="2192412"/>
    <p188:txBody>
      <a:bodyPr/>
      <a:lstStyle/>
      <a:p>
        <a:r>
          <a:rPr lang="ko-KR" altLang="en-US"/>
          <a:t>부서별 대신들이 있을 때
어느 곳에서 대신을 못 내면 내각을 무너뜨려야 한다는 규칙이 있었음
그렇다면 육군대신을 안 내보내서 내각을 무너뜨리는 방법이 있었다</a:t>
        </a:r>
      </a:p>
    </p188:txBody>
  </p188:cm>
</p188:cmLst>
</file>

<file path=ppt/comments/modernComment_11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0C2840-8B61-4391-8672-8D91327C0A4C}" authorId="{B04A4422-787B-6592-7FD3-EE14D387F25C}" created="2024-04-15T04:46:13.02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5"/>
      <ac:spMk id="2" creationId="{00000000-0000-0000-0000-000000000000}"/>
    </ac:deMkLst>
    <p188:txBody>
      <a:bodyPr/>
      <a:lstStyle/>
      <a:p>
        <a:r>
          <a:rPr lang="ko-KR" altLang="en-US"/>
          <a:t>군대가 국가를 움직이는
정치를 움직이는 하나의 주체였음
조선이 일본 육군의 영향권 아래에 있는 것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2BAEE5-2A4F-448A-86E7-41CCFCEF112A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02FE8-B6C5-4024-ACB6-165AE25A1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733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5" name="머리글 개체 틀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altLang="ko-KR"/>
              <a:t>2022-2 </a:t>
            </a:r>
            <a:r>
              <a:rPr lang="ko-KR" altLang="en-US"/>
              <a:t>한국근현대사</a:t>
            </a:r>
          </a:p>
        </p:txBody>
      </p:sp>
    </p:spTree>
    <p:extLst>
      <p:ext uri="{BB962C8B-B14F-4D97-AF65-F5344CB8AC3E}">
        <p14:creationId xmlns:p14="http://schemas.microsoft.com/office/powerpoint/2010/main" val="2851281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5" name="머리글 개체 틀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altLang="ko-KR"/>
              <a:t>2022-2 </a:t>
            </a:r>
            <a:r>
              <a:rPr lang="ko-KR" altLang="en-US"/>
              <a:t>한국근현대사</a:t>
            </a:r>
          </a:p>
        </p:txBody>
      </p:sp>
    </p:spTree>
    <p:extLst>
      <p:ext uri="{BB962C8B-B14F-4D97-AF65-F5344CB8AC3E}">
        <p14:creationId xmlns:p14="http://schemas.microsoft.com/office/powerpoint/2010/main" val="605446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5" name="머리글 개체 틀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altLang="ko-KR"/>
              <a:t>2022-2 </a:t>
            </a:r>
            <a:r>
              <a:rPr lang="ko-KR" altLang="en-US"/>
              <a:t>한국근현대사</a:t>
            </a:r>
          </a:p>
        </p:txBody>
      </p:sp>
    </p:spTree>
    <p:extLst>
      <p:ext uri="{BB962C8B-B14F-4D97-AF65-F5344CB8AC3E}">
        <p14:creationId xmlns:p14="http://schemas.microsoft.com/office/powerpoint/2010/main" val="2434526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5" name="머리글 개체 틀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altLang="ko-KR"/>
              <a:t>2022-2 </a:t>
            </a:r>
            <a:r>
              <a:rPr lang="ko-KR" altLang="en-US"/>
              <a:t>한국근현대사</a:t>
            </a:r>
          </a:p>
        </p:txBody>
      </p:sp>
    </p:spTree>
    <p:extLst>
      <p:ext uri="{BB962C8B-B14F-4D97-AF65-F5344CB8AC3E}">
        <p14:creationId xmlns:p14="http://schemas.microsoft.com/office/powerpoint/2010/main" val="3219285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5" name="머리글 개체 틀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altLang="ko-KR"/>
              <a:t>2022-2 </a:t>
            </a:r>
            <a:r>
              <a:rPr lang="ko-KR" altLang="en-US"/>
              <a:t>한국근현대사</a:t>
            </a:r>
          </a:p>
        </p:txBody>
      </p:sp>
    </p:spTree>
    <p:extLst>
      <p:ext uri="{BB962C8B-B14F-4D97-AF65-F5344CB8AC3E}">
        <p14:creationId xmlns:p14="http://schemas.microsoft.com/office/powerpoint/2010/main" val="140766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5" name="머리글 개체 틀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altLang="ko-KR"/>
              <a:t>2022-2 </a:t>
            </a:r>
            <a:r>
              <a:rPr lang="ko-KR" altLang="en-US"/>
              <a:t>한국근현대사</a:t>
            </a:r>
          </a:p>
        </p:txBody>
      </p:sp>
    </p:spTree>
    <p:extLst>
      <p:ext uri="{BB962C8B-B14F-4D97-AF65-F5344CB8AC3E}">
        <p14:creationId xmlns:p14="http://schemas.microsoft.com/office/powerpoint/2010/main" val="3156270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2912F-D69E-2084-A73E-609E12D91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E1EBCE-11EC-3CFB-14DC-E7E137FB6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ECEA87-46BA-0583-E31C-270C2FA4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274-4593-43DF-99D3-24F781F1149E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95A469-EFB8-DCE6-6176-7DA6CDCF0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B2DB5B-2EAB-B604-A0FA-8D21FE9AD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EE04-5C39-4C6F-B2FE-D07B01A4F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49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3BF4A8-74D7-DE8F-5009-4BBC408F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A31CAB-0F00-2AD2-A676-10969489C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24C89F-B39C-8933-6E69-CD1CDF3A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274-4593-43DF-99D3-24F781F1149E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7E7EA0-CC74-FF17-EF6C-A812E719A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03C3F-5423-8D31-E44B-8728B2C60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EE04-5C39-4C6F-B2FE-D07B01A4F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024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F2158-46D9-D81C-DB6D-96AC5DB0E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BD57E3-455D-0768-B0BE-7EBA8B66C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4E32FB-850B-C6A8-A1FB-6E05664D5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274-4593-43DF-99D3-24F781F1149E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2931D-3F49-3F76-34A1-707777566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160EAD-09A5-852B-4CC7-FEB9BBD8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EE04-5C39-4C6F-B2FE-D07B01A4F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80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D3648-E5B2-E8BA-13A0-8D4EBDA1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FF75C7-7FAF-1EA4-097E-BA97607FD1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780E9C-91E5-552E-3B46-2549A12A3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AE8D03-E4F1-5651-A812-7C220E6E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274-4593-43DF-99D3-24F781F1149E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9F75EE-061C-A8EA-847D-87432A15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32F678-D3B5-42E7-A567-05F75EFE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EE04-5C39-4C6F-B2FE-D07B01A4F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53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5E6A7-E32A-14E1-D3F3-FF2AD61BE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13D7DA-DB28-0054-191E-307B25D2E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4B700F-9D54-2858-8B85-751A8CB5C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02D7A0-9D60-A039-F75D-BDD8D010A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0D10A0-907B-6551-BBE3-05690730F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DA1759-BFE9-9A33-876F-12119C72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274-4593-43DF-99D3-24F781F1149E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DD9FF21-DE56-8CE6-48A5-D65D31E4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40A533-BCCB-87DD-506F-BD91A939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EE04-5C39-4C6F-B2FE-D07B01A4F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754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3646C-5CF8-842A-587F-DAC047E7E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941804-118D-05CF-AE14-D5689C192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274-4593-43DF-99D3-24F781F1149E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1CD323-5670-DB28-43EF-0937D3632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5978B4-336C-4507-1A10-56F837FEE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EE04-5C39-4C6F-B2FE-D07B01A4F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532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8C4FD7-9CB1-0AC4-C561-48926971D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274-4593-43DF-99D3-24F781F1149E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3AEB0C1-D500-64A0-8953-A867F982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4CD217-B877-A29B-162B-759E97D6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EE04-5C39-4C6F-B2FE-D07B01A4F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057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B2EB84-AD11-209A-928D-67B5DE48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C6B9F-91EF-E49A-948B-496DB7F93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35083C-7938-C53B-899C-C4B62C5A7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AC6238-C668-E9BE-B1FD-6EBAC875A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274-4593-43DF-99D3-24F781F1149E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3E3B77-F24B-49BE-35A0-25CD4DA39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3F29EE-2378-2818-97F3-E93339D23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EE04-5C39-4C6F-B2FE-D07B01A4F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337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3E764-B75B-4D1E-531F-40801E1F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C7E6C0-849F-1B7A-C9B6-3225CCA35C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F8D4FE-3DAF-A2A6-AEFD-F83851999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0BCB7C-9C15-DAFD-8651-64C864BC3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274-4593-43DF-99D3-24F781F1149E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CFC75A-DF09-59B3-A915-947B345F2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8C5B1A-8E2E-16A4-F23F-3DD54191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EE04-5C39-4C6F-B2FE-D07B01A4F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257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C5405-AE52-A3DC-A7CA-E45650671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FDB07E-C0D7-6942-5A17-375ADFF68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B95045-FADD-6359-A36E-BEF6C7CC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274-4593-43DF-99D3-24F781F1149E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3BD279-5BAD-4F98-F8E4-DD8142272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CDA016-696D-B729-3829-9784A557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EE04-5C39-4C6F-B2FE-D07B01A4F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65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5559A0-5263-E76E-FA5F-5BC0A055A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78AA5B-82DA-72E7-4D7E-9988F4098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8C352A-F65B-516B-D1FB-6B598227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274-4593-43DF-99D3-24F781F1149E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CA8B60-912A-80F1-1082-A33F36115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DF9619-F1FC-90AF-0B81-8147144A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EE04-5C39-4C6F-B2FE-D07B01A4F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21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AF9DC9-406A-BFDC-B2B3-F7D596EC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4214FD-78A2-A7F5-93F5-060B61407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FC3BE9-C789-5403-24AD-DD06F76BB1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8F5274-4593-43DF-99D3-24F781F1149E}" type="datetimeFigureOut">
              <a:rPr lang="ko-KR" altLang="en-US" smtClean="0"/>
              <a:t>2024-12-25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D90E8B-C227-DD75-99A6-915BA0DB2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BA4789-6A5F-312E-109A-CF1558411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2EE04-5C39-4C6F-B2FE-D07B01A4F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23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1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3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2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09800" y="315902"/>
            <a:ext cx="7772400" cy="969959"/>
          </a:xfrm>
        </p:spPr>
        <p:txBody>
          <a:bodyPr>
            <a:normAutofit/>
          </a:bodyPr>
          <a:lstStyle/>
          <a:p>
            <a:pPr fontAlgn="base"/>
            <a:r>
              <a:rPr lang="en-US" altLang="ko-KR" sz="2800" b="1" dirty="0">
                <a:latin typeface="HY산B" pitchFamily="18" charset="-127"/>
                <a:ea typeface="HY산B" pitchFamily="18" charset="-127"/>
              </a:rPr>
              <a:t>6</a:t>
            </a:r>
            <a:r>
              <a:rPr lang="ko-KR" altLang="en-US" sz="2800" b="1" dirty="0">
                <a:latin typeface="HY산B" pitchFamily="18" charset="-127"/>
                <a:ea typeface="HY산B" pitchFamily="18" charset="-127"/>
              </a:rPr>
              <a:t>주차</a:t>
            </a:r>
            <a:r>
              <a:rPr lang="en-US" altLang="ko-KR" sz="2800" b="1" dirty="0">
                <a:latin typeface="HY산B" pitchFamily="18" charset="-127"/>
                <a:ea typeface="HY산B" pitchFamily="18" charset="-127"/>
              </a:rPr>
              <a:t>: </a:t>
            </a:r>
            <a:r>
              <a:rPr lang="ko-KR" altLang="en-US" sz="2800" b="1" dirty="0">
                <a:latin typeface="HY산B" pitchFamily="18" charset="-127"/>
                <a:ea typeface="HY산B" pitchFamily="18" charset="-127"/>
              </a:rPr>
              <a:t>일본제국주의의 특성과 식민지배정책</a:t>
            </a:r>
            <a:endParaRPr lang="ko-KR" altLang="en-US" sz="2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738414" y="1790704"/>
            <a:ext cx="7072362" cy="4567254"/>
          </a:xfrm>
        </p:spPr>
        <p:txBody>
          <a:bodyPr>
            <a:noAutofit/>
          </a:bodyPr>
          <a:lstStyle/>
          <a:p>
            <a:pPr marL="457200" indent="-457200" algn="l"/>
            <a:r>
              <a:rPr lang="en-US" altLang="ko-KR" sz="2000" kern="1500" dirty="0">
                <a:solidFill>
                  <a:schemeClr val="accent4">
                    <a:lumMod val="50000"/>
                  </a:schemeClr>
                </a:solidFill>
                <a:latin typeface="HY산B" pitchFamily="18" charset="-127"/>
                <a:ea typeface="HY산B" pitchFamily="18" charset="-127"/>
              </a:rPr>
              <a:t>&lt;6</a:t>
            </a:r>
            <a:r>
              <a:rPr lang="ko-KR" altLang="en-US" sz="2000" kern="1500" dirty="0">
                <a:solidFill>
                  <a:schemeClr val="accent4">
                    <a:lumMod val="50000"/>
                  </a:schemeClr>
                </a:solidFill>
                <a:latin typeface="HY산B" pitchFamily="18" charset="-127"/>
                <a:ea typeface="HY산B" pitchFamily="18" charset="-127"/>
              </a:rPr>
              <a:t>주차 주요 내용</a:t>
            </a:r>
            <a:r>
              <a:rPr lang="en-US" altLang="ko-KR" sz="2000" kern="1500" dirty="0">
                <a:solidFill>
                  <a:schemeClr val="accent4">
                    <a:lumMod val="50000"/>
                  </a:schemeClr>
                </a:solidFill>
                <a:latin typeface="HY산B" pitchFamily="18" charset="-127"/>
                <a:ea typeface="HY산B" pitchFamily="18" charset="-127"/>
              </a:rPr>
              <a:t>&gt;</a:t>
            </a:r>
          </a:p>
          <a:p>
            <a:pPr marL="457200" indent="-457200" algn="l"/>
            <a:endParaRPr lang="en-US" altLang="ko-KR" sz="2000" kern="1500" dirty="0">
              <a:solidFill>
                <a:schemeClr val="accent4">
                  <a:lumMod val="50000"/>
                </a:schemeClr>
              </a:solidFill>
              <a:latin typeface="HY산B" pitchFamily="18" charset="-127"/>
              <a:ea typeface="HY산B" pitchFamily="18" charset="-127"/>
            </a:endParaRPr>
          </a:p>
          <a:p>
            <a:pPr marL="457200" indent="-457200" algn="l"/>
            <a:r>
              <a:rPr lang="en-US" altLang="ko-KR" sz="2000" kern="1500" dirty="0">
                <a:solidFill>
                  <a:schemeClr val="accent4">
                    <a:lumMod val="50000"/>
                  </a:schemeClr>
                </a:solidFill>
                <a:latin typeface="HY산B" pitchFamily="18" charset="-127"/>
                <a:ea typeface="HY산B" pitchFamily="18" charset="-127"/>
              </a:rPr>
              <a:t>@</a:t>
            </a:r>
            <a:r>
              <a:rPr lang="ko-KR" altLang="en-US" sz="2000" kern="1500" dirty="0">
                <a:solidFill>
                  <a:schemeClr val="accent4">
                    <a:lumMod val="50000"/>
                  </a:schemeClr>
                </a:solidFill>
                <a:latin typeface="HY산B" pitchFamily="18" charset="-127"/>
                <a:ea typeface="HY산B" pitchFamily="18" charset="-127"/>
              </a:rPr>
              <a:t>일본제국주의 식민 지배의 특징</a:t>
            </a:r>
            <a:endParaRPr lang="en-US" altLang="ko-KR" sz="2000" kern="1500" dirty="0">
              <a:solidFill>
                <a:schemeClr val="accent4">
                  <a:lumMod val="50000"/>
                </a:schemeClr>
              </a:solidFill>
              <a:latin typeface="HY산B" pitchFamily="18" charset="-127"/>
              <a:ea typeface="HY산B" pitchFamily="18" charset="-127"/>
            </a:endParaRPr>
          </a:p>
          <a:p>
            <a:pPr marL="457200" indent="-457200" algn="l"/>
            <a:endParaRPr lang="en-US" altLang="ko-KR" sz="2000" kern="1500" dirty="0">
              <a:solidFill>
                <a:schemeClr val="accent4">
                  <a:lumMod val="50000"/>
                </a:schemeClr>
              </a:solidFill>
              <a:latin typeface="HY산B" pitchFamily="18" charset="-127"/>
              <a:ea typeface="HY산B" pitchFamily="18" charset="-127"/>
            </a:endParaRPr>
          </a:p>
          <a:p>
            <a:pPr marL="457200" indent="-457200" algn="l"/>
            <a:r>
              <a:rPr lang="en-US" altLang="ko-KR" sz="2000" kern="1500" dirty="0">
                <a:solidFill>
                  <a:schemeClr val="accent4">
                    <a:lumMod val="50000"/>
                  </a:schemeClr>
                </a:solidFill>
                <a:latin typeface="HY산B" pitchFamily="18" charset="-127"/>
                <a:ea typeface="HY산B" pitchFamily="18" charset="-127"/>
              </a:rPr>
              <a:t>@1910</a:t>
            </a:r>
            <a:r>
              <a:rPr lang="ko-KR" altLang="en-US" sz="2000" kern="1500" dirty="0">
                <a:solidFill>
                  <a:schemeClr val="accent4">
                    <a:lumMod val="50000"/>
                  </a:schemeClr>
                </a:solidFill>
                <a:latin typeface="HY산B" pitchFamily="18" charset="-127"/>
                <a:ea typeface="HY산B" pitchFamily="18" charset="-127"/>
              </a:rPr>
              <a:t>년대 무단통치의 내용과 특징</a:t>
            </a:r>
            <a:endParaRPr lang="en-US" altLang="ko-KR" sz="2000" kern="1500" dirty="0">
              <a:solidFill>
                <a:schemeClr val="accent4">
                  <a:lumMod val="50000"/>
                </a:schemeClr>
              </a:solidFill>
              <a:latin typeface="HY산B" pitchFamily="18" charset="-127"/>
              <a:ea typeface="HY산B" pitchFamily="18" charset="-127"/>
            </a:endParaRPr>
          </a:p>
          <a:p>
            <a:pPr marL="457200" indent="-457200" algn="l"/>
            <a:endParaRPr lang="en-US" altLang="ko-KR" sz="2000" kern="1500" dirty="0">
              <a:solidFill>
                <a:schemeClr val="accent4">
                  <a:lumMod val="50000"/>
                </a:schemeClr>
              </a:solidFill>
              <a:latin typeface="HY산B" pitchFamily="18" charset="-127"/>
              <a:ea typeface="HY산B" pitchFamily="18" charset="-127"/>
            </a:endParaRPr>
          </a:p>
          <a:p>
            <a:pPr marL="457200" indent="-457200" algn="l"/>
            <a:r>
              <a:rPr lang="en-US" altLang="ko-KR" sz="2000" kern="1500" dirty="0">
                <a:solidFill>
                  <a:schemeClr val="accent4">
                    <a:lumMod val="50000"/>
                  </a:schemeClr>
                </a:solidFill>
                <a:latin typeface="HY산B" pitchFamily="18" charset="-127"/>
                <a:ea typeface="HY산B" pitchFamily="18" charset="-127"/>
              </a:rPr>
              <a:t>@1920</a:t>
            </a:r>
            <a:r>
              <a:rPr lang="ko-KR" altLang="en-US" sz="2000" kern="1500" dirty="0">
                <a:solidFill>
                  <a:schemeClr val="accent4">
                    <a:lumMod val="50000"/>
                  </a:schemeClr>
                </a:solidFill>
                <a:latin typeface="HY산B" pitchFamily="18" charset="-127"/>
                <a:ea typeface="HY산B" pitchFamily="18" charset="-127"/>
              </a:rPr>
              <a:t>년대 문화통치로의 전환</a:t>
            </a:r>
            <a:endParaRPr lang="en-US" altLang="ko-KR" sz="2000" kern="1500" dirty="0">
              <a:solidFill>
                <a:schemeClr val="accent4">
                  <a:lumMod val="50000"/>
                </a:schemeClr>
              </a:solidFill>
              <a:latin typeface="HY산B" pitchFamily="18" charset="-127"/>
              <a:ea typeface="HY산B" pitchFamily="18" charset="-127"/>
            </a:endParaRPr>
          </a:p>
          <a:p>
            <a:pPr marL="457200" indent="-457200" algn="l"/>
            <a:endParaRPr lang="en-US" altLang="ko-KR" sz="2000" kern="1500" dirty="0">
              <a:solidFill>
                <a:schemeClr val="accent4">
                  <a:lumMod val="50000"/>
                </a:schemeClr>
              </a:solidFill>
              <a:latin typeface="HY산B" pitchFamily="18" charset="-127"/>
              <a:ea typeface="HY산B" pitchFamily="18" charset="-127"/>
            </a:endParaRPr>
          </a:p>
          <a:p>
            <a:pPr marL="457200" indent="-457200" algn="l"/>
            <a:r>
              <a:rPr lang="en-US" altLang="ko-KR" sz="2000" kern="1500" dirty="0">
                <a:solidFill>
                  <a:schemeClr val="accent4">
                    <a:lumMod val="50000"/>
                  </a:schemeClr>
                </a:solidFill>
                <a:latin typeface="HY산B" pitchFamily="18" charset="-127"/>
                <a:ea typeface="HY산B" pitchFamily="18" charset="-127"/>
              </a:rPr>
              <a:t>@1930</a:t>
            </a:r>
            <a:r>
              <a:rPr lang="ko-KR" altLang="en-US" sz="2000" kern="1500" dirty="0">
                <a:solidFill>
                  <a:schemeClr val="accent4">
                    <a:lumMod val="50000"/>
                  </a:schemeClr>
                </a:solidFill>
                <a:latin typeface="HY산B" pitchFamily="18" charset="-127"/>
                <a:ea typeface="HY산B" pitchFamily="18" charset="-127"/>
              </a:rPr>
              <a:t>년대 사상통제 및 친일파 육성의 강화</a:t>
            </a:r>
            <a:endParaRPr lang="en-US" altLang="ko-KR" sz="2000" kern="1500" dirty="0">
              <a:solidFill>
                <a:schemeClr val="accent4">
                  <a:lumMod val="50000"/>
                </a:schemeClr>
              </a:solidFill>
              <a:latin typeface="HY산B" pitchFamily="18" charset="-127"/>
              <a:ea typeface="HY산B" pitchFamily="18" charset="-127"/>
            </a:endParaRPr>
          </a:p>
          <a:p>
            <a:pPr marL="457200" indent="-457200" algn="l"/>
            <a:endParaRPr lang="en-US" altLang="ko-KR" sz="2000" kern="1500" dirty="0">
              <a:solidFill>
                <a:schemeClr val="accent4">
                  <a:lumMod val="50000"/>
                </a:schemeClr>
              </a:solidFill>
              <a:latin typeface="HY산B" pitchFamily="18" charset="-127"/>
              <a:ea typeface="HY산B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23968" y="6572272"/>
            <a:ext cx="9215502" cy="285752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523968" y="-24"/>
            <a:ext cx="9215502" cy="285752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HY산B" pitchFamily="18" charset="-127"/>
                <a:ea typeface="HY산B" pitchFamily="18" charset="-127"/>
              </a:rPr>
              <a:t>2022-2 </a:t>
            </a:r>
            <a:r>
              <a:rPr lang="ko-KR" altLang="en-US" sz="1400" dirty="0" err="1">
                <a:solidFill>
                  <a:schemeClr val="accent5">
                    <a:lumMod val="50000"/>
                  </a:schemeClr>
                </a:solidFill>
                <a:latin typeface="HY산B" pitchFamily="18" charset="-127"/>
                <a:ea typeface="HY산B" pitchFamily="18" charset="-127"/>
              </a:rPr>
              <a:t>한국근현대사</a:t>
            </a:r>
            <a:endParaRPr lang="en-US" altLang="ko-KR" sz="1400" dirty="0">
              <a:solidFill>
                <a:schemeClr val="accent5">
                  <a:lumMod val="50000"/>
                </a:schemeClr>
              </a:solidFill>
              <a:latin typeface="HY산B" pitchFamily="18" charset="-127"/>
              <a:ea typeface="HY산B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666976" y="1714488"/>
            <a:ext cx="6929486" cy="4071966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800" b="1" dirty="0">
                <a:latin typeface="HY산B" pitchFamily="18" charset="-127"/>
                <a:ea typeface="HY산B" pitchFamily="18" charset="-127"/>
              </a:rPr>
              <a:t>6</a:t>
            </a:r>
            <a:r>
              <a:rPr lang="ko-KR" altLang="en-US" sz="2800" b="1" dirty="0">
                <a:latin typeface="HY산B" pitchFamily="18" charset="-127"/>
                <a:ea typeface="HY산B" pitchFamily="18" charset="-127"/>
              </a:rPr>
              <a:t>주차</a:t>
            </a:r>
            <a:r>
              <a:rPr lang="en-US" altLang="ko-KR" sz="2800" b="1" dirty="0">
                <a:latin typeface="HY산B" pitchFamily="18" charset="-127"/>
                <a:ea typeface="HY산B" pitchFamily="18" charset="-127"/>
              </a:rPr>
              <a:t>: </a:t>
            </a:r>
            <a:r>
              <a:rPr lang="ko-KR" altLang="en-US" sz="2800" b="1" dirty="0">
                <a:latin typeface="HY산B" pitchFamily="18" charset="-127"/>
                <a:ea typeface="HY산B" pitchFamily="18" charset="-127"/>
              </a:rPr>
              <a:t>일본제국주의의 특성과 식민지배정책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@</a:t>
            </a:r>
            <a:r>
              <a:rPr lang="ko-KR" altLang="en-US" sz="1800" dirty="0"/>
              <a:t>일본은 </a:t>
            </a:r>
            <a:r>
              <a:rPr lang="en-US" altLang="ko-KR" sz="1800" dirty="0"/>
              <a:t>1868</a:t>
            </a:r>
            <a:r>
              <a:rPr lang="ko-KR" altLang="en-US" sz="1800" dirty="0"/>
              <a:t>년 메이지 유신으로 근대국가를 수립함과 동시에 끊임 없이 영토 확장에 나섰음</a:t>
            </a:r>
            <a:r>
              <a:rPr lang="en-US" altLang="ko-KR" sz="1800" dirty="0"/>
              <a:t>. </a:t>
            </a:r>
          </a:p>
          <a:p>
            <a:pPr marL="0" indent="0">
              <a:buNone/>
            </a:pPr>
            <a:r>
              <a:rPr lang="en-US" altLang="ko-KR" sz="1800" dirty="0"/>
              <a:t>: </a:t>
            </a:r>
            <a:r>
              <a:rPr lang="ko-KR" altLang="en-US" sz="1800" dirty="0"/>
              <a:t>서구열강과의 불평등 조약에 따른 손실 만회</a:t>
            </a:r>
            <a:r>
              <a:rPr lang="en-US" altLang="ko-KR" sz="1800" dirty="0"/>
              <a:t> + </a:t>
            </a:r>
            <a:r>
              <a:rPr lang="ko-KR" altLang="en-US" sz="1800" dirty="0"/>
              <a:t>근대국가 수립과정에서 생긴 국내 혼란 회피</a:t>
            </a:r>
            <a:r>
              <a:rPr lang="en-US" altLang="ko-KR" sz="1800" dirty="0"/>
              <a:t> + </a:t>
            </a:r>
            <a:r>
              <a:rPr lang="ko-KR" altLang="en-US" sz="1800" dirty="0"/>
              <a:t>일본자본주의의 발달에 필요한 원료 및 상품시장 확보가 필요했기 때문</a:t>
            </a:r>
            <a:r>
              <a:rPr lang="en-US" altLang="ko-KR" sz="1800" dirty="0"/>
              <a:t>. </a:t>
            </a:r>
          </a:p>
          <a:p>
            <a:pPr marL="0" indent="0">
              <a:buNone/>
            </a:pPr>
            <a:endParaRPr lang="en-US" altLang="ko-KR" sz="1800" dirty="0"/>
          </a:p>
          <a:p>
            <a:pPr fontAlgn="base"/>
            <a:r>
              <a:rPr lang="en-US" altLang="ko-KR" sz="1800" dirty="0"/>
              <a:t>1869</a:t>
            </a:r>
            <a:r>
              <a:rPr lang="ko-KR" altLang="en-US" sz="1800" dirty="0"/>
              <a:t>년 홋카이도</a:t>
            </a:r>
            <a:r>
              <a:rPr lang="en-US" altLang="ko-KR" sz="1800" dirty="0"/>
              <a:t>, 1872</a:t>
            </a:r>
            <a:r>
              <a:rPr lang="ko-KR" altLang="en-US" sz="1800" dirty="0"/>
              <a:t>년 오키나와를 일본의 영토에 편입한 것을 시작으로</a:t>
            </a:r>
          </a:p>
          <a:p>
            <a:pPr fontAlgn="base"/>
            <a:r>
              <a:rPr lang="en-US" altLang="ko-KR" sz="1800" dirty="0"/>
              <a:t>1894</a:t>
            </a:r>
            <a:r>
              <a:rPr lang="ko-KR" altLang="en-US" sz="1800" dirty="0"/>
              <a:t>년 청일전쟁에서 승리하면서 대만을 획득했고</a:t>
            </a:r>
            <a:r>
              <a:rPr lang="en-US" altLang="ko-KR" sz="1800" dirty="0"/>
              <a:t>,</a:t>
            </a:r>
            <a:endParaRPr lang="ko-KR" altLang="en-US" sz="1800" dirty="0"/>
          </a:p>
          <a:p>
            <a:pPr fontAlgn="base"/>
            <a:r>
              <a:rPr lang="en-US" altLang="ko-KR" sz="1800" dirty="0"/>
              <a:t>1905</a:t>
            </a:r>
            <a:r>
              <a:rPr lang="ko-KR" altLang="en-US" sz="1800" dirty="0"/>
              <a:t>년 러일전쟁에서 승리하면서 한국을 보호국화한 뒤 </a:t>
            </a:r>
            <a:r>
              <a:rPr lang="en-US" altLang="ko-KR" sz="1800" dirty="0"/>
              <a:t>1910</a:t>
            </a:r>
            <a:r>
              <a:rPr lang="ko-KR" altLang="en-US" sz="1800" dirty="0"/>
              <a:t>년 완전히 식민지화했으며</a:t>
            </a:r>
            <a:r>
              <a:rPr lang="en-US" altLang="ko-KR" sz="1800" dirty="0"/>
              <a:t>, </a:t>
            </a:r>
            <a:endParaRPr lang="ko-KR" altLang="en-US" sz="1800" dirty="0"/>
          </a:p>
          <a:p>
            <a:pPr fontAlgn="base"/>
            <a:r>
              <a:rPr lang="en-US" altLang="ko-KR" sz="1800" dirty="0"/>
              <a:t>1905</a:t>
            </a:r>
            <a:r>
              <a:rPr lang="ko-KR" altLang="en-US" sz="1800" dirty="0"/>
              <a:t>년 러일전쟁 승리 보상으로 </a:t>
            </a:r>
            <a:r>
              <a:rPr lang="ko-KR" altLang="en-US" sz="1800" dirty="0" err="1"/>
              <a:t>사할린섬의</a:t>
            </a:r>
            <a:r>
              <a:rPr lang="ko-KR" altLang="en-US" sz="1800" dirty="0"/>
              <a:t> 북위</a:t>
            </a:r>
            <a:r>
              <a:rPr lang="en-US" altLang="ko-KR" sz="1800" dirty="0"/>
              <a:t>50</a:t>
            </a:r>
            <a:r>
              <a:rPr lang="ko-KR" altLang="en-US" sz="1800" dirty="0"/>
              <a:t>도 이하를 </a:t>
            </a:r>
            <a:r>
              <a:rPr lang="ko-KR" altLang="en-US" sz="1800" dirty="0" err="1"/>
              <a:t>할양받았고</a:t>
            </a:r>
            <a:r>
              <a:rPr lang="ko-KR" altLang="en-US" sz="1800" dirty="0"/>
              <a:t> 러시아가 개발 중이던 </a:t>
            </a:r>
            <a:r>
              <a:rPr lang="ko-KR" altLang="en-US" sz="1800" dirty="0" err="1"/>
              <a:t>뤼순항</a:t>
            </a:r>
            <a:r>
              <a:rPr lang="ko-KR" altLang="en-US" sz="1800" dirty="0"/>
              <a:t> 및 </a:t>
            </a:r>
            <a:r>
              <a:rPr lang="ko-KR" altLang="en-US" sz="1800" dirty="0" err="1"/>
              <a:t>다롄일대에</a:t>
            </a:r>
            <a:r>
              <a:rPr lang="ko-KR" altLang="en-US" sz="1800" dirty="0"/>
              <a:t> 대한 </a:t>
            </a:r>
            <a:r>
              <a:rPr lang="ko-KR" altLang="en-US" sz="1800" dirty="0" err="1"/>
              <a:t>조차권을</a:t>
            </a:r>
            <a:r>
              <a:rPr lang="ko-KR" altLang="en-US" sz="1800" dirty="0"/>
              <a:t> 넘겨받았으며</a:t>
            </a:r>
            <a:r>
              <a:rPr lang="en-US" altLang="ko-KR" sz="1800" dirty="0"/>
              <a:t>,</a:t>
            </a:r>
            <a:endParaRPr lang="ko-KR" altLang="en-US" sz="1800" dirty="0"/>
          </a:p>
          <a:p>
            <a:pPr fontAlgn="base"/>
            <a:r>
              <a:rPr lang="ko-KR" altLang="en-US" sz="1800" dirty="0"/>
              <a:t>제</a:t>
            </a:r>
            <a:r>
              <a:rPr lang="en-US" altLang="ko-KR" sz="1800" dirty="0"/>
              <a:t>1</a:t>
            </a:r>
            <a:r>
              <a:rPr lang="ko-KR" altLang="en-US" sz="1800" dirty="0"/>
              <a:t>차 세계대전 당시 독일에 선전포고를 한 뒤 독일이 지배하고 있던 태평양 일대의 섬을 점령</a:t>
            </a:r>
            <a:r>
              <a:rPr lang="en-US" altLang="ko-KR" sz="1800" dirty="0"/>
              <a:t>, 1921</a:t>
            </a:r>
            <a:r>
              <a:rPr lang="ko-KR" altLang="en-US" sz="1800" dirty="0"/>
              <a:t>년 국제연합으로부터 위임통치를 인정받음</a:t>
            </a:r>
            <a:r>
              <a:rPr lang="en-US" altLang="ko-KR" sz="1800" dirty="0"/>
              <a:t>. </a:t>
            </a:r>
            <a:endParaRPr lang="ko-KR" altLang="en-US" sz="1800" dirty="0"/>
          </a:p>
          <a:p>
            <a:pPr marL="0" indent="0">
              <a:buNone/>
            </a:pPr>
            <a:endParaRPr lang="en-US" altLang="ko-KR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5303913" y="22048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 dirty="0">
                <a:latin typeface="HY산B" pitchFamily="18" charset="-127"/>
                <a:ea typeface="HY산B" pitchFamily="18" charset="-127"/>
              </a:rPr>
              <a:t>6</a:t>
            </a:r>
            <a:r>
              <a:rPr lang="ko-KR" altLang="en-US" sz="2800" b="1" dirty="0">
                <a:latin typeface="HY산B" pitchFamily="18" charset="-127"/>
                <a:ea typeface="HY산B" pitchFamily="18" charset="-127"/>
              </a:rPr>
              <a:t>주차</a:t>
            </a:r>
            <a:r>
              <a:rPr lang="en-US" altLang="ko-KR" sz="2800" b="1" dirty="0">
                <a:latin typeface="HY산B" pitchFamily="18" charset="-127"/>
                <a:ea typeface="HY산B" pitchFamily="18" charset="-127"/>
              </a:rPr>
              <a:t>: </a:t>
            </a:r>
            <a:r>
              <a:rPr lang="ko-KR" altLang="en-US" sz="2800" b="1" dirty="0">
                <a:latin typeface="HY산B" pitchFamily="18" charset="-127"/>
                <a:ea typeface="HY산B" pitchFamily="18" charset="-127"/>
              </a:rPr>
              <a:t>일본제국주의의 특성과 식민지배정책</a:t>
            </a:r>
            <a:endParaRPr lang="ko-KR" altLang="en-US" sz="2800" dirty="0">
              <a:solidFill>
                <a:schemeClr val="accent2">
                  <a:lumMod val="50000"/>
                </a:schemeClr>
              </a:solidFill>
              <a:latin typeface="HY산B" pitchFamily="18" charset="-127"/>
              <a:ea typeface="HY산B" pitchFamily="18" charset="-127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None/>
            </a:pPr>
            <a:r>
              <a:rPr lang="en-US" altLang="ko-KR" sz="1800" dirty="0"/>
              <a:t>=&gt;</a:t>
            </a:r>
            <a:r>
              <a:rPr lang="ko-KR" altLang="en-US" sz="1800" dirty="0"/>
              <a:t>이상의 과정을 통해 일본은 불과 반세기 만에 일본 본토 총면적의 </a:t>
            </a:r>
            <a:r>
              <a:rPr lang="en-US" altLang="ko-KR" sz="1800" dirty="0"/>
              <a:t>78.3%</a:t>
            </a:r>
            <a:r>
              <a:rPr lang="ko-KR" altLang="en-US" sz="1800" dirty="0"/>
              <a:t>에 해당하는 광대한 면적을 식민지로 차지하게 됨</a:t>
            </a:r>
            <a:r>
              <a:rPr lang="en-US" altLang="ko-KR" sz="1800" dirty="0"/>
              <a:t>. </a:t>
            </a:r>
            <a:endParaRPr lang="ko-KR" altLang="en-US" sz="1800" dirty="0"/>
          </a:p>
          <a:p>
            <a:pPr marL="457200" indent="-457200">
              <a:buNone/>
            </a:pPr>
            <a:endParaRPr lang="en-US" altLang="ko-KR" sz="1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57200" indent="-457200">
              <a:buNone/>
            </a:pPr>
            <a:r>
              <a:rPr lang="en-US" altLang="ko-KR" sz="1800" dirty="0"/>
              <a:t>@but, </a:t>
            </a:r>
            <a:r>
              <a:rPr lang="ko-KR" altLang="en-US" sz="1800" dirty="0"/>
              <a:t>근대국가와 자본주의가 형성됨과 거의 동시에</a:t>
            </a:r>
            <a:r>
              <a:rPr lang="en-US" altLang="ko-KR" sz="1800" dirty="0"/>
              <a:t>, </a:t>
            </a:r>
            <a:r>
              <a:rPr lang="ko-KR" altLang="en-US" sz="1800" dirty="0"/>
              <a:t>짧은 시기 동안 급속한 </a:t>
            </a:r>
            <a:endParaRPr lang="en-US" altLang="ko-KR" sz="1800" dirty="0"/>
          </a:p>
          <a:p>
            <a:pPr marL="457200" indent="-457200">
              <a:buNone/>
            </a:pPr>
            <a:r>
              <a:rPr lang="ko-KR" altLang="en-US" sz="1800" dirty="0"/>
              <a:t>영토 팽창을 함에 따라 일본의 영토 팽창과 유지에는 군사력의 뒷받침이 훨씬 </a:t>
            </a:r>
            <a:endParaRPr lang="en-US" altLang="ko-KR" sz="1800" dirty="0"/>
          </a:p>
          <a:p>
            <a:pPr marL="457200" indent="-457200">
              <a:buNone/>
            </a:pPr>
            <a:r>
              <a:rPr lang="ko-KR" altLang="en-US" sz="1800" dirty="0"/>
              <a:t>더 강하게 요구되었음</a:t>
            </a:r>
            <a:r>
              <a:rPr lang="en-US" altLang="ko-KR" sz="1800" dirty="0"/>
              <a:t>.</a:t>
            </a:r>
          </a:p>
          <a:p>
            <a:pPr marL="457200" indent="-457200">
              <a:buNone/>
            </a:pPr>
            <a:endParaRPr lang="en-US" altLang="ko-KR" sz="1800" dirty="0"/>
          </a:p>
          <a:p>
            <a:pPr marL="457200" indent="-457200">
              <a:buNone/>
            </a:pPr>
            <a:r>
              <a:rPr lang="en-US" altLang="ko-KR" sz="1800" dirty="0"/>
              <a:t>@</a:t>
            </a:r>
            <a:r>
              <a:rPr lang="ko-KR" altLang="en-US" sz="1800" dirty="0"/>
              <a:t>영토 팽창과정에서도 보듯이 일본은 다른 국가를 지배하기 위해 언제나 군대</a:t>
            </a:r>
            <a:endParaRPr lang="en-US" altLang="ko-KR" sz="1800" dirty="0"/>
          </a:p>
          <a:p>
            <a:pPr marL="457200" indent="-457200">
              <a:buNone/>
            </a:pPr>
            <a:r>
              <a:rPr lang="ko-KR" altLang="en-US" sz="1800" dirty="0" err="1"/>
              <a:t>를</a:t>
            </a:r>
            <a:r>
              <a:rPr lang="ko-KR" altLang="en-US" sz="1800" dirty="0"/>
              <a:t> 먼저 동원하여 저항을 억누른 후 일본인을 이주시키는 방식을 취함</a:t>
            </a:r>
            <a:r>
              <a:rPr lang="en-US" altLang="ko-KR" sz="1800" dirty="0"/>
              <a:t>. </a:t>
            </a:r>
          </a:p>
          <a:p>
            <a:pPr marL="457200" indent="-457200">
              <a:buNone/>
            </a:pPr>
            <a:endParaRPr lang="en-US" altLang="ko-KR" sz="1800" dirty="0"/>
          </a:p>
          <a:p>
            <a:pPr marL="457200" indent="-457200">
              <a:buNone/>
            </a:pPr>
            <a:r>
              <a:rPr lang="en-US" altLang="ko-KR" sz="1800" dirty="0"/>
              <a:t>=&gt;</a:t>
            </a:r>
            <a:r>
              <a:rPr lang="ko-KR" altLang="en-US" sz="1800" dirty="0"/>
              <a:t>이는 종교인이나 상인과 같은 민간인이 먼저 이주하여 정착한 뒤 그를 발판</a:t>
            </a:r>
            <a:endParaRPr lang="en-US" altLang="ko-KR" sz="1800" dirty="0"/>
          </a:p>
          <a:p>
            <a:pPr marL="457200" indent="-457200">
              <a:buNone/>
            </a:pPr>
            <a:r>
              <a:rPr lang="ko-KR" altLang="en-US" sz="1800" dirty="0" err="1"/>
              <a:t>으로</a:t>
            </a:r>
            <a:r>
              <a:rPr lang="ko-KR" altLang="en-US" sz="1800" dirty="0"/>
              <a:t> 해당지역을 식민지로 만드는 경우가 일반적이었던 서구 제국주의와는 확</a:t>
            </a:r>
            <a:endParaRPr lang="en-US" altLang="ko-KR" sz="1800" dirty="0"/>
          </a:p>
          <a:p>
            <a:pPr marL="457200" indent="-457200">
              <a:buNone/>
            </a:pPr>
            <a:r>
              <a:rPr lang="ko-KR" altLang="en-US" sz="1800" dirty="0" err="1"/>
              <a:t>연히</a:t>
            </a:r>
            <a:r>
              <a:rPr lang="ko-KR" altLang="en-US" sz="1800" dirty="0"/>
              <a:t> 다른 방식</a:t>
            </a:r>
          </a:p>
          <a:p>
            <a:pPr marL="457200" indent="-457200">
              <a:buNone/>
            </a:pPr>
            <a:endParaRPr lang="ko-KR" altLang="en-US" sz="1800" dirty="0"/>
          </a:p>
          <a:p>
            <a:pPr marL="457200" indent="-457200">
              <a:buNone/>
            </a:pPr>
            <a:endParaRPr lang="ko-KR" altLang="en-US" sz="1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 dirty="0">
                <a:latin typeface="HY산B" pitchFamily="18" charset="-127"/>
                <a:ea typeface="HY산B" pitchFamily="18" charset="-127"/>
              </a:rPr>
              <a:t>6</a:t>
            </a:r>
            <a:r>
              <a:rPr lang="ko-KR" altLang="en-US" sz="2800" b="1" dirty="0">
                <a:latin typeface="HY산B" pitchFamily="18" charset="-127"/>
                <a:ea typeface="HY산B" pitchFamily="18" charset="-127"/>
              </a:rPr>
              <a:t>주차</a:t>
            </a:r>
            <a:r>
              <a:rPr lang="en-US" altLang="ko-KR" sz="2800" b="1" dirty="0">
                <a:latin typeface="HY산B" pitchFamily="18" charset="-127"/>
                <a:ea typeface="HY산B" pitchFamily="18" charset="-127"/>
              </a:rPr>
              <a:t>: </a:t>
            </a:r>
            <a:r>
              <a:rPr lang="ko-KR" altLang="en-US" sz="2800" b="1" dirty="0">
                <a:latin typeface="HY산B" pitchFamily="18" charset="-127"/>
                <a:ea typeface="HY산B" pitchFamily="18" charset="-127"/>
              </a:rPr>
              <a:t>일본제국주의의 특성과 식민지배정책</a:t>
            </a:r>
            <a:endParaRPr lang="en-US" altLang="ko-KR" sz="2800" b="1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@</a:t>
            </a:r>
            <a:r>
              <a:rPr lang="ko-KR" altLang="en-US" sz="1800" dirty="0"/>
              <a:t>조선에 대한 식민지배에도 이러한 특징은 당연히 반영됨</a:t>
            </a:r>
            <a:r>
              <a:rPr lang="en-US" altLang="ko-KR" sz="1800" dirty="0"/>
              <a:t>. </a:t>
            </a:r>
          </a:p>
          <a:p>
            <a:pPr marL="0" indent="0">
              <a:buNone/>
            </a:pPr>
            <a:r>
              <a:rPr lang="ko-KR" altLang="en-US" sz="1800" dirty="0"/>
              <a:t>대륙침략의 교두보였던 조선은 </a:t>
            </a:r>
            <a:r>
              <a:rPr lang="ko-KR" altLang="en-US" sz="1800" dirty="0">
                <a:highlight>
                  <a:srgbClr val="FFFF00"/>
                </a:highlight>
              </a:rPr>
              <a:t>일본 육군의 </a:t>
            </a:r>
            <a:r>
              <a:rPr lang="ko-KR" altLang="en-US" sz="1800" dirty="0"/>
              <a:t>절대적 영향권 아래 놓여 있었고 그 대변자인 </a:t>
            </a:r>
            <a:r>
              <a:rPr lang="ko-KR" altLang="en-US" sz="1800" dirty="0">
                <a:highlight>
                  <a:srgbClr val="FFFF00"/>
                </a:highlight>
              </a:rPr>
              <a:t>조선 총독은 </a:t>
            </a:r>
            <a:r>
              <a:rPr lang="ko-KR" altLang="en-US" sz="1800" dirty="0"/>
              <a:t>일본 내각의 간섭도 받지 않는 최고 권력자로 군림함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@</a:t>
            </a:r>
            <a:r>
              <a:rPr lang="ko-KR" altLang="en-US" sz="1800" dirty="0"/>
              <a:t>곧</a:t>
            </a:r>
            <a:r>
              <a:rPr lang="en-US" altLang="ko-KR" sz="1800" dirty="0"/>
              <a:t>, 1910</a:t>
            </a:r>
            <a:r>
              <a:rPr lang="ko-KR" altLang="en-US" sz="1800" dirty="0"/>
              <a:t>년 </a:t>
            </a:r>
            <a:r>
              <a:rPr lang="en-US" altLang="ko-KR" sz="1800" dirty="0"/>
              <a:t>9</a:t>
            </a:r>
            <a:r>
              <a:rPr lang="ko-KR" altLang="en-US" sz="1800" dirty="0"/>
              <a:t>월 </a:t>
            </a:r>
            <a:r>
              <a:rPr lang="en-US" altLang="ko-KR" sz="1800" dirty="0"/>
              <a:t>29</a:t>
            </a:r>
            <a:r>
              <a:rPr lang="ko-KR" altLang="en-US" sz="1800" dirty="0"/>
              <a:t>일에 공포된 </a:t>
            </a:r>
            <a:r>
              <a:rPr lang="en-US" altLang="ko-KR" sz="1800" dirty="0"/>
              <a:t>｢</a:t>
            </a:r>
            <a:r>
              <a:rPr lang="ko-KR" altLang="en-US" sz="1800" dirty="0"/>
              <a:t>조선총독부 관제</a:t>
            </a:r>
            <a:r>
              <a:rPr lang="en-US" altLang="ko-KR" sz="1800" dirty="0"/>
              <a:t>｣</a:t>
            </a:r>
            <a:r>
              <a:rPr lang="ko-KR" altLang="en-US" sz="1800" dirty="0"/>
              <a:t>에 따르면 조선총독은 무관 총독제로 육해군 대장 출신만이 조선총독이 될 수 있었음</a:t>
            </a:r>
            <a:r>
              <a:rPr lang="en-US" altLang="ko-KR" sz="1800" dirty="0"/>
              <a:t>. 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-</a:t>
            </a:r>
            <a:r>
              <a:rPr lang="ko-KR" altLang="en-US" sz="1800" dirty="0"/>
              <a:t>일본이 조선을 통치한 </a:t>
            </a:r>
            <a:r>
              <a:rPr lang="en-US" altLang="ko-KR" sz="1800" dirty="0"/>
              <a:t>35</a:t>
            </a:r>
            <a:r>
              <a:rPr lang="ko-KR" altLang="en-US" sz="1800" dirty="0"/>
              <a:t>년간 재임했던 </a:t>
            </a:r>
            <a:r>
              <a:rPr lang="en-US" altLang="ko-KR" sz="1800" dirty="0"/>
              <a:t>8</a:t>
            </a:r>
            <a:r>
              <a:rPr lang="ko-KR" altLang="en-US" sz="1800" dirty="0"/>
              <a:t>명의 조선총독 가운데 </a:t>
            </a:r>
            <a:r>
              <a:rPr lang="en-US" altLang="ko-KR" sz="1800" dirty="0"/>
              <a:t>7</a:t>
            </a:r>
            <a:r>
              <a:rPr lang="ko-KR" altLang="en-US" sz="1800" dirty="0"/>
              <a:t>명이 육군대장 출신이고</a:t>
            </a:r>
            <a:r>
              <a:rPr lang="en-US" altLang="ko-KR" sz="1800" dirty="0"/>
              <a:t>, 1</a:t>
            </a:r>
            <a:r>
              <a:rPr lang="ko-KR" altLang="en-US" sz="1800" dirty="0"/>
              <a:t>명은 해군대장 출신으로 총독 모두 군인 출신이었음</a:t>
            </a:r>
            <a:r>
              <a:rPr lang="en-US" altLang="ko-KR" sz="1800" dirty="0"/>
              <a:t>. 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-</a:t>
            </a:r>
            <a:r>
              <a:rPr lang="ko-KR" altLang="en-US" sz="1800" dirty="0"/>
              <a:t>같은 기간 </a:t>
            </a:r>
            <a:r>
              <a:rPr lang="en-US" altLang="ko-KR" sz="1800" dirty="0"/>
              <a:t>15</a:t>
            </a:r>
            <a:r>
              <a:rPr lang="ko-KR" altLang="en-US" sz="1800" dirty="0"/>
              <a:t>명의 대만 총독 중 </a:t>
            </a:r>
            <a:r>
              <a:rPr lang="en-US" altLang="ko-KR" sz="1800" dirty="0"/>
              <a:t>9</a:t>
            </a:r>
            <a:r>
              <a:rPr lang="ko-KR" altLang="en-US" sz="1800" dirty="0"/>
              <a:t>명이 문관이었던 점</a:t>
            </a:r>
            <a:r>
              <a:rPr lang="en-US" altLang="ko-KR" sz="1800" dirty="0"/>
              <a:t>, </a:t>
            </a:r>
            <a:r>
              <a:rPr lang="ko-KR" altLang="en-US" sz="1800" dirty="0"/>
              <a:t>영국의 인도총독 전체 </a:t>
            </a:r>
            <a:r>
              <a:rPr lang="en-US" altLang="ko-KR" sz="1800" dirty="0"/>
              <a:t>33</a:t>
            </a:r>
            <a:r>
              <a:rPr lang="ko-KR" altLang="en-US" sz="1800" dirty="0"/>
              <a:t>명 중 군인 출신은 </a:t>
            </a:r>
            <a:r>
              <a:rPr lang="en-US" altLang="ko-KR" sz="1800" dirty="0"/>
              <a:t>8</a:t>
            </a:r>
            <a:r>
              <a:rPr lang="ko-KR" altLang="en-US" sz="1800" dirty="0"/>
              <a:t>명에 불과했던 사실과 비교해보면 차이가 있음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 marL="0" indent="0">
              <a:buNone/>
            </a:pPr>
            <a:endParaRPr lang="ko-KR" altLang="en-US" sz="18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sz="2800" b="1" dirty="0">
                <a:latin typeface="HY산B" pitchFamily="18" charset="-127"/>
                <a:ea typeface="HY산B" pitchFamily="18" charset="-127"/>
              </a:rPr>
              <a:t>6</a:t>
            </a:r>
            <a:r>
              <a:rPr lang="ko-KR" altLang="en-US" sz="2800" b="1" dirty="0">
                <a:latin typeface="HY산B" pitchFamily="18" charset="-127"/>
                <a:ea typeface="HY산B" pitchFamily="18" charset="-127"/>
              </a:rPr>
              <a:t>주차</a:t>
            </a:r>
            <a:r>
              <a:rPr lang="en-US" altLang="ko-KR" sz="2800" b="1" dirty="0">
                <a:latin typeface="HY산B" pitchFamily="18" charset="-127"/>
                <a:ea typeface="HY산B" pitchFamily="18" charset="-127"/>
              </a:rPr>
              <a:t>: </a:t>
            </a:r>
            <a:r>
              <a:rPr lang="ko-KR" altLang="en-US" sz="2800" b="1" dirty="0">
                <a:latin typeface="HY산B" pitchFamily="18" charset="-127"/>
                <a:ea typeface="HY산B" pitchFamily="18" charset="-127"/>
              </a:rPr>
              <a:t>일본제국주의의 특성과 식민지배정책</a:t>
            </a:r>
            <a:endParaRPr lang="ko-KR" altLang="en-US" sz="2800" dirty="0">
              <a:ea typeface="HY산B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ko-KR" sz="1800" dirty="0"/>
              <a:t>@</a:t>
            </a:r>
            <a:r>
              <a:rPr lang="ko-KR" altLang="en-US" sz="1800" dirty="0"/>
              <a:t>조선총독은 천황에 직속하며 필요한 사항에 대해 직접 상수할 수 있는 권한</a:t>
            </a:r>
            <a:endParaRPr lang="en-US" altLang="ko-KR" sz="1800" dirty="0"/>
          </a:p>
          <a:p>
            <a:pPr>
              <a:buNone/>
            </a:pPr>
            <a:r>
              <a:rPr lang="ko-KR" altLang="en-US" sz="1800" dirty="0"/>
              <a:t>이 있었음</a:t>
            </a:r>
            <a:r>
              <a:rPr lang="en-US" altLang="ko-KR" sz="1800" dirty="0"/>
              <a:t>. </a:t>
            </a:r>
            <a:r>
              <a:rPr lang="ko-KR" altLang="en-US" sz="1800" dirty="0"/>
              <a:t>일본 총리의 감독권이 명시되어 있지 않기에 제국의회에 출석할 의</a:t>
            </a:r>
            <a:endParaRPr lang="en-US" altLang="ko-KR" sz="1800" dirty="0"/>
          </a:p>
          <a:p>
            <a:pPr>
              <a:buNone/>
            </a:pPr>
            <a:r>
              <a:rPr lang="ko-KR" altLang="en-US" sz="1800" dirty="0"/>
              <a:t>무도 없었음</a:t>
            </a:r>
            <a:r>
              <a:rPr lang="en-US" altLang="ko-KR" sz="1800" dirty="0"/>
              <a:t>. </a:t>
            </a:r>
          </a:p>
          <a:p>
            <a:pPr>
              <a:buNone/>
            </a:pPr>
            <a:endParaRPr lang="en-US" altLang="ko-KR" sz="1800" dirty="0"/>
          </a:p>
          <a:p>
            <a:pPr>
              <a:buNone/>
            </a:pPr>
            <a:r>
              <a:rPr lang="en-US" altLang="ko-KR" sz="1800" dirty="0"/>
              <a:t>=&gt;</a:t>
            </a:r>
            <a:r>
              <a:rPr lang="ko-KR" altLang="en-US" sz="1800" dirty="0"/>
              <a:t>일본 내각이 총독을 견제할 방법이 제도적으로 존재하지 않았다는 것이 </a:t>
            </a:r>
            <a:r>
              <a:rPr lang="ko-KR" altLang="en-US" sz="1800" dirty="0" err="1"/>
              <a:t>주목점</a:t>
            </a:r>
            <a:r>
              <a:rPr lang="en-US" altLang="ko-KR" sz="1800" dirty="0"/>
              <a:t>. </a:t>
            </a:r>
          </a:p>
          <a:p>
            <a:pPr>
              <a:buNone/>
            </a:pPr>
            <a:endParaRPr lang="en-US" altLang="ko-KR" sz="1800" dirty="0"/>
          </a:p>
          <a:p>
            <a:pPr>
              <a:buNone/>
            </a:pPr>
            <a:r>
              <a:rPr lang="en-US" altLang="ko-KR" sz="1800" dirty="0"/>
              <a:t>@</a:t>
            </a:r>
            <a:r>
              <a:rPr lang="ko-KR" altLang="en-US" sz="1800" dirty="0"/>
              <a:t>본국의 제도적 견제가 없는 상황에서 조선 총독은 일반 행정업무 외에도 </a:t>
            </a:r>
            <a:endParaRPr lang="en-US" altLang="ko-KR" sz="1800" dirty="0"/>
          </a:p>
          <a:p>
            <a:pPr>
              <a:buNone/>
            </a:pPr>
            <a:r>
              <a:rPr lang="ko-KR" altLang="en-US" sz="1800" dirty="0"/>
              <a:t>군사권도 가지고 있었고</a:t>
            </a:r>
            <a:r>
              <a:rPr lang="en-US" altLang="ko-KR" sz="1800" dirty="0"/>
              <a:t>, </a:t>
            </a:r>
            <a:r>
              <a:rPr lang="ko-KR" altLang="en-US" sz="1800" dirty="0"/>
              <a:t>법률을 대신해서 </a:t>
            </a:r>
            <a:r>
              <a:rPr lang="ko-KR" altLang="en-US" sz="1800" dirty="0" err="1"/>
              <a:t>조선총독부령을</a:t>
            </a:r>
            <a:r>
              <a:rPr lang="ko-KR" altLang="en-US" sz="1800" dirty="0"/>
              <a:t> 제정 공포할 수 </a:t>
            </a:r>
            <a:r>
              <a:rPr lang="ko-KR" altLang="en-US" sz="1800" dirty="0" err="1"/>
              <a:t>있</a:t>
            </a:r>
            <a:endParaRPr lang="en-US" altLang="ko-KR" sz="1800" dirty="0"/>
          </a:p>
          <a:p>
            <a:pPr>
              <a:buNone/>
            </a:pPr>
            <a:r>
              <a:rPr lang="ko-KR" altLang="en-US" sz="1800" dirty="0"/>
              <a:t>어 입법권</a:t>
            </a:r>
            <a:r>
              <a:rPr lang="en-US" altLang="ko-KR" sz="1800" dirty="0"/>
              <a:t>, </a:t>
            </a:r>
            <a:r>
              <a:rPr lang="ko-KR" altLang="en-US" sz="1800" dirty="0"/>
              <a:t>사법권도 행사할 수 있는 등 사실상 전제군주에 가까운 권한을 가지</a:t>
            </a:r>
            <a:endParaRPr lang="en-US" altLang="ko-KR" sz="1800" dirty="0"/>
          </a:p>
          <a:p>
            <a:pPr>
              <a:buNone/>
            </a:pPr>
            <a:r>
              <a:rPr lang="ko-KR" altLang="en-US" sz="1800" dirty="0"/>
              <a:t>고 있었음</a:t>
            </a:r>
            <a:r>
              <a:rPr lang="en-US" altLang="ko-KR" sz="1800" dirty="0"/>
              <a:t>. </a:t>
            </a:r>
          </a:p>
          <a:p>
            <a:pPr>
              <a:buNone/>
            </a:pPr>
            <a:endParaRPr lang="en-US" altLang="ko-KR" sz="1800" dirty="0"/>
          </a:p>
          <a:p>
            <a:pPr>
              <a:buNone/>
            </a:pPr>
            <a:r>
              <a:rPr lang="en-US" altLang="ko-KR" sz="1800" dirty="0"/>
              <a:t>=&gt;</a:t>
            </a:r>
            <a:r>
              <a:rPr lang="ko-KR" altLang="en-US" sz="1800" dirty="0"/>
              <a:t>총독이 삼권에 군사권까지 모두 장악하고 있었던 것은 식민지들 가운데 조선만 해당하는 특징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>
              <a:buNone/>
            </a:pPr>
            <a:endParaRPr lang="ko-KR" altLang="en-US" sz="1800" dirty="0"/>
          </a:p>
          <a:p>
            <a:pPr>
              <a:buNone/>
            </a:pPr>
            <a:endParaRPr lang="ko-KR" altLang="en-US" sz="18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 dirty="0">
                <a:latin typeface="HY산B" pitchFamily="18" charset="-127"/>
                <a:ea typeface="HY산B" pitchFamily="18" charset="-127"/>
              </a:rPr>
              <a:t>6</a:t>
            </a:r>
            <a:r>
              <a:rPr lang="ko-KR" altLang="en-US" sz="2800" b="1" dirty="0">
                <a:latin typeface="HY산B" pitchFamily="18" charset="-127"/>
                <a:ea typeface="HY산B" pitchFamily="18" charset="-127"/>
              </a:rPr>
              <a:t>주차</a:t>
            </a:r>
            <a:r>
              <a:rPr lang="en-US" altLang="ko-KR" sz="2800" b="1" dirty="0">
                <a:latin typeface="HY산B" pitchFamily="18" charset="-127"/>
                <a:ea typeface="HY산B" pitchFamily="18" charset="-127"/>
              </a:rPr>
              <a:t>: </a:t>
            </a:r>
            <a:r>
              <a:rPr lang="ko-KR" altLang="en-US" sz="2800" b="1" dirty="0">
                <a:latin typeface="HY산B" pitchFamily="18" charset="-127"/>
                <a:ea typeface="HY산B" pitchFamily="18" charset="-127"/>
              </a:rPr>
              <a:t>일본제국주의의 특성과 식민지배정책</a:t>
            </a:r>
            <a:endParaRPr lang="ko-KR" altLang="en-US" sz="2800" dirty="0">
              <a:solidFill>
                <a:schemeClr val="accent2">
                  <a:lumMod val="50000"/>
                </a:schemeClr>
              </a:solidFill>
              <a:latin typeface="HY산B" pitchFamily="18" charset="-127"/>
              <a:ea typeface="HY산B" pitchFamily="18" charset="-127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altLang="ko-KR" sz="1800" dirty="0"/>
              <a:t>@</a:t>
            </a:r>
            <a:r>
              <a:rPr lang="ko-KR" altLang="en-US" sz="1800" dirty="0"/>
              <a:t>이처럼 높은 권한과 비중을 차지했던 조선 총독은 일본 정계에서 경력관리에 아주 좋은 노른자 같은 보직이었음</a:t>
            </a:r>
            <a:r>
              <a:rPr lang="en-US" altLang="ko-KR" sz="1800" dirty="0"/>
              <a:t>. </a:t>
            </a:r>
          </a:p>
          <a:p>
            <a:pPr marL="0" indent="0" fontAlgn="base">
              <a:buNone/>
            </a:pPr>
            <a:endParaRPr lang="en-US" altLang="ko-KR" sz="1800" dirty="0"/>
          </a:p>
          <a:p>
            <a:pPr marL="0" indent="0" fontAlgn="base">
              <a:buNone/>
            </a:pPr>
            <a:r>
              <a:rPr lang="en-US" altLang="ko-KR" sz="1800" dirty="0"/>
              <a:t>-</a:t>
            </a:r>
            <a:r>
              <a:rPr lang="ko-KR" altLang="en-US" sz="1800" dirty="0"/>
              <a:t>조선 총독 </a:t>
            </a:r>
            <a:r>
              <a:rPr lang="en-US" altLang="ko-KR" sz="1800" dirty="0"/>
              <a:t>8</a:t>
            </a:r>
            <a:r>
              <a:rPr lang="ko-KR" altLang="en-US" sz="1800" dirty="0"/>
              <a:t>명 중 </a:t>
            </a:r>
            <a:r>
              <a:rPr lang="en-US" altLang="ko-KR" sz="1800" dirty="0"/>
              <a:t>4</a:t>
            </a:r>
            <a:r>
              <a:rPr lang="ko-KR" altLang="en-US" sz="1800" dirty="0"/>
              <a:t>명이 일본 수상을 역임했는데</a:t>
            </a:r>
            <a:r>
              <a:rPr lang="en-US" altLang="ko-KR" sz="1800" dirty="0"/>
              <a:t>, </a:t>
            </a:r>
          </a:p>
          <a:p>
            <a:pPr marL="0" indent="0" fontAlgn="base">
              <a:buNone/>
            </a:pPr>
            <a:r>
              <a:rPr lang="en-US" altLang="ko-KR" sz="1800" dirty="0"/>
              <a:t>-</a:t>
            </a:r>
            <a:r>
              <a:rPr lang="ko-KR" altLang="en-US" sz="1800" dirty="0"/>
              <a:t>같은 기간 </a:t>
            </a:r>
            <a:r>
              <a:rPr lang="en-US" altLang="ko-KR" sz="1800" dirty="0"/>
              <a:t>15</a:t>
            </a:r>
            <a:r>
              <a:rPr lang="ko-KR" altLang="en-US" sz="1800" dirty="0"/>
              <a:t>명 대만 총독 중에 일본 </a:t>
            </a:r>
            <a:r>
              <a:rPr lang="ko-KR" altLang="en-US" sz="1800" dirty="0" err="1"/>
              <a:t>수상직에</a:t>
            </a:r>
            <a:r>
              <a:rPr lang="ko-KR" altLang="en-US" sz="1800" dirty="0"/>
              <a:t> 오른 사람은 </a:t>
            </a:r>
            <a:r>
              <a:rPr lang="ko-KR" altLang="en-US" sz="1800" dirty="0" err="1"/>
              <a:t>한명도</a:t>
            </a:r>
            <a:r>
              <a:rPr lang="ko-KR" altLang="en-US" sz="1800" dirty="0"/>
              <a:t> 없었으며</a:t>
            </a:r>
            <a:r>
              <a:rPr lang="en-US" altLang="ko-KR" sz="1800" dirty="0"/>
              <a:t>, -</a:t>
            </a:r>
            <a:r>
              <a:rPr lang="ko-KR" altLang="en-US" sz="1800" dirty="0"/>
              <a:t>영국의 </a:t>
            </a:r>
            <a:r>
              <a:rPr lang="en-US" altLang="ko-KR" sz="1800" dirty="0"/>
              <a:t>33</a:t>
            </a:r>
            <a:r>
              <a:rPr lang="ko-KR" altLang="en-US" sz="1800" dirty="0"/>
              <a:t>명 인도총독 가운데서도 영국수상에 취임한 사람은 없었음</a:t>
            </a:r>
            <a:r>
              <a:rPr lang="en-US" altLang="ko-KR" sz="1800" dirty="0"/>
              <a:t>. </a:t>
            </a:r>
            <a:endParaRPr lang="ko-KR" altLang="en-US" sz="1800" dirty="0"/>
          </a:p>
          <a:p>
            <a:pPr marL="0" indent="0" fontAlgn="base">
              <a:buNone/>
            </a:pPr>
            <a:endParaRPr lang="en-US" altLang="ko-KR" sz="1800" dirty="0"/>
          </a:p>
          <a:p>
            <a:pPr marL="0" indent="0" fontAlgn="base">
              <a:buNone/>
            </a:pPr>
            <a:r>
              <a:rPr lang="en-US" altLang="ko-KR" sz="1800" dirty="0"/>
              <a:t>=&gt;</a:t>
            </a:r>
            <a:r>
              <a:rPr lang="ko-KR" altLang="en-US" sz="1800" dirty="0"/>
              <a:t>일본 제국에서 식민지 조선이 가지는 의미와 비중을 엿볼 수 있는 지점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 marL="0" indent="0" fontAlgn="base">
              <a:buNone/>
            </a:pPr>
            <a:endParaRPr lang="ko-KR" alt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Microsoft Office PowerPoint</Application>
  <PresentationFormat>와이드스크린</PresentationFormat>
  <Paragraphs>68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HY산B</vt:lpstr>
      <vt:lpstr>HY신명조</vt:lpstr>
      <vt:lpstr>맑은 고딕</vt:lpstr>
      <vt:lpstr>Arial</vt:lpstr>
      <vt:lpstr>Office 테마</vt:lpstr>
      <vt:lpstr>6주차: 일본제국주의의 특성과 식민지배정책</vt:lpstr>
      <vt:lpstr>6주차: 일본제국주의의 특성과 식민지배정책</vt:lpstr>
      <vt:lpstr>6주차: 일본제국주의의 특성과 식민지배정책</vt:lpstr>
      <vt:lpstr>6주차: 일본제국주의의 특성과 식민지배정책</vt:lpstr>
      <vt:lpstr>6주차: 일본제국주의의 특성과 식민지배정책</vt:lpstr>
      <vt:lpstr>6주차: 일본제국주의의 특성과 식민지배정책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윤성 정</dc:creator>
  <cp:lastModifiedBy>윤성 정</cp:lastModifiedBy>
  <cp:revision>1</cp:revision>
  <dcterms:created xsi:type="dcterms:W3CDTF">2024-12-25T05:56:56Z</dcterms:created>
  <dcterms:modified xsi:type="dcterms:W3CDTF">2024-12-25T05:57:16Z</dcterms:modified>
</cp:coreProperties>
</file>